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7"/>
  </p:notesMasterIdLst>
  <p:handoutMasterIdLst>
    <p:handoutMasterId r:id="rId18"/>
  </p:handoutMasterIdLst>
  <p:sldIdLst>
    <p:sldId id="298" r:id="rId5"/>
    <p:sldId id="292" r:id="rId6"/>
    <p:sldId id="302" r:id="rId7"/>
    <p:sldId id="299" r:id="rId8"/>
    <p:sldId id="300" r:id="rId9"/>
    <p:sldId id="301" r:id="rId10"/>
    <p:sldId id="303" r:id="rId11"/>
    <p:sldId id="304" r:id="rId12"/>
    <p:sldId id="305" r:id="rId13"/>
    <p:sldId id="306" r:id="rId14"/>
    <p:sldId id="308" r:id="rId15"/>
    <p:sldId id="307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70E"/>
    <a:srgbClr val="FFFFFF"/>
    <a:srgbClr val="F1F3F3"/>
    <a:srgbClr val="E5EAE9"/>
    <a:srgbClr val="E1DBD5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1588" autoAdjust="0"/>
  </p:normalViewPr>
  <p:slideViewPr>
    <p:cSldViewPr showGuides="1">
      <p:cViewPr varScale="1">
        <p:scale>
          <a:sx n="85" d="100"/>
          <a:sy n="85" d="100"/>
        </p:scale>
        <p:origin x="64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488"/>
    </p:cViewPr>
  </p:notesTextViewPr>
  <p:notesViewPr>
    <p:cSldViewPr>
      <p:cViewPr varScale="1">
        <p:scale>
          <a:sx n="107" d="100"/>
          <a:sy n="107" d="100"/>
        </p:scale>
        <p:origin x="5259" y="6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02.06.2026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‹Nr.›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02.06.2026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Best: LR0.01, Patience 10, </a:t>
            </a:r>
            <a:r>
              <a:rPr lang="de-CH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</a:t>
            </a:r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0.8852, Epoch 15, </a:t>
            </a:r>
            <a:r>
              <a:rPr lang="de-CH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MaxEpoch</a:t>
            </a:r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25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</a:t>
            </a:r>
            <a:r>
              <a:rPr lang="de-CH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stopping</a:t>
            </a:r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auf Loss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51638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Conv</a:t>
            </a:r>
            <a:r>
              <a:rPr lang="de-CH" dirty="0"/>
              <a:t>: 0.25, FC: 0.5, Da FC Mehr Param als </a:t>
            </a:r>
            <a:r>
              <a:rPr lang="de-CH" dirty="0" err="1"/>
              <a:t>Conv</a:t>
            </a:r>
            <a:endParaRPr lang="de-CH" dirty="0"/>
          </a:p>
          <a:p>
            <a:r>
              <a:rPr lang="de-CH" dirty="0"/>
              <a:t>Auf </a:t>
            </a:r>
            <a:r>
              <a:rPr lang="de-CH" dirty="0" err="1"/>
              <a:t>Conv</a:t>
            </a:r>
            <a:r>
              <a:rPr lang="de-CH" dirty="0"/>
              <a:t>: </a:t>
            </a:r>
            <a:r>
              <a:rPr lang="de-CH" dirty="0" err="1"/>
              <a:t>Evt.</a:t>
            </a:r>
            <a:r>
              <a:rPr lang="de-CH" dirty="0"/>
              <a:t> Noch </a:t>
            </a:r>
            <a:r>
              <a:rPr lang="de-CH" dirty="0" err="1"/>
              <a:t>dropout</a:t>
            </a:r>
            <a:r>
              <a:rPr lang="de-CH" dirty="0"/>
              <a:t> 2d um ganze Filter zu eliminieren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7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2807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Normalisiert die Neuronen mit </a:t>
            </a:r>
            <a:r>
              <a:rPr lang="de-CH" dirty="0" err="1"/>
              <a:t>verteilung</a:t>
            </a:r>
            <a:r>
              <a:rPr lang="de-CH" dirty="0"/>
              <a:t> eines Batches</a:t>
            </a:r>
          </a:p>
          <a:p>
            <a:r>
              <a:rPr lang="de-CH" dirty="0" err="1"/>
              <a:t>Lernrate</a:t>
            </a:r>
            <a:r>
              <a:rPr lang="de-CH" dirty="0"/>
              <a:t> könnte dadurch eventuell noch erhöht werden</a:t>
            </a:r>
          </a:p>
          <a:p>
            <a:r>
              <a:rPr lang="de-CH" dirty="0"/>
              <a:t>Kein </a:t>
            </a:r>
            <a:r>
              <a:rPr lang="de-CH" dirty="0" err="1"/>
              <a:t>Vanishing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8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47948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Augmentation: Generalisiert aber verbessert nicht</a:t>
            </a:r>
          </a:p>
          <a:p>
            <a:r>
              <a:rPr lang="de-CH" dirty="0"/>
              <a:t>Zufälliger </a:t>
            </a:r>
            <a:r>
              <a:rPr lang="de-CH" dirty="0" err="1"/>
              <a:t>Init</a:t>
            </a:r>
            <a:r>
              <a:rPr lang="de-CH" dirty="0"/>
              <a:t> verschlechtert massiv, anderer: Kaiman</a:t>
            </a:r>
          </a:p>
          <a:p>
            <a:r>
              <a:rPr lang="de-CH" dirty="0"/>
              <a:t>Adam: </a:t>
            </a:r>
            <a:r>
              <a:rPr lang="de-CH" dirty="0" err="1"/>
              <a:t>Testloss</a:t>
            </a:r>
            <a:r>
              <a:rPr lang="de-CH" dirty="0"/>
              <a:t> explodiert, vielleicht tiefere </a:t>
            </a:r>
            <a:r>
              <a:rPr lang="de-CH" dirty="0" err="1"/>
              <a:t>Lernrate</a:t>
            </a:r>
            <a:endParaRPr lang="de-CH" dirty="0"/>
          </a:p>
          <a:p>
            <a:r>
              <a:rPr lang="de-CH" dirty="0" err="1"/>
              <a:t>Focal</a:t>
            </a:r>
            <a:r>
              <a:rPr lang="de-CH" dirty="0"/>
              <a:t> Loss: Bester Loss hat Gamma 0 (=CE), Alpha 2 (Etwas stärkere </a:t>
            </a:r>
            <a:r>
              <a:rPr lang="de-CH" dirty="0" err="1"/>
              <a:t>gewichtung</a:t>
            </a:r>
            <a:r>
              <a:rPr lang="de-CH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9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70179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Epoch 58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Trainierte Epochen 69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Val Loss 0.2337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Val </a:t>
            </a:r>
            <a:r>
              <a:rPr lang="de-CH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0.9440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Val Precision 0.9442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Val Recall 0.9440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Val F1 0.9439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Parameter 534,410</a:t>
            </a:r>
            <a:endParaRPr lang="de-CH" dirty="0"/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10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70928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Epoch 38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Trainierte Epochen 49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Val Loss 0.2330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Val </a:t>
            </a:r>
            <a:r>
              <a:rPr lang="de-CH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0.9481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Val Precision 0.9484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Val Recall 0.9481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Val F1 0.9480</a:t>
            </a:r>
          </a:p>
          <a:p>
            <a:r>
              <a:rPr lang="de-CH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Parameter 4,632,714 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12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13839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2040BAA5-8ED1-5052-684A-DB6BB56E8FD6}"/>
              </a:ext>
            </a:extLst>
          </p:cNvPr>
          <p:cNvSpPr/>
          <p:nvPr userDrawn="1"/>
        </p:nvSpPr>
        <p:spPr>
          <a:xfrm>
            <a:off x="0" y="846667"/>
            <a:ext cx="6102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8076" y="6223621"/>
            <a:ext cx="2631600" cy="216000"/>
          </a:xfrm>
        </p:spPr>
        <p:txBody>
          <a:bodyPr/>
          <a:lstStyle>
            <a:lvl1pPr>
              <a:defRPr sz="1350"/>
            </a:lvl1pPr>
          </a:lstStyle>
          <a:p>
            <a:fld id="{E5BED6EA-27A4-4E08-9513-AB9EC09AAF0B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1569" y="148321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031569" y="148321"/>
            <a:ext cx="360000" cy="36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594B6BE9-185E-A88B-41DA-D0D14396ED7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03027" y="850779"/>
            <a:ext cx="5323238" cy="6007221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 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</a:t>
            </a:r>
            <a:br>
              <a:rPr lang="de-CH" dirty="0"/>
            </a:br>
            <a:r>
              <a:rPr lang="de-CH" dirty="0"/>
              <a:t>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 auf das untenstehende Icon einfügen.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287EEC27-B21C-02CA-ECBC-917FAECFBD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076" y="5229000"/>
            <a:ext cx="5265300" cy="935263"/>
          </a:xfrm>
        </p:spPr>
        <p:txBody>
          <a:bodyPr anchor="b"/>
          <a:lstStyle>
            <a:lvl1pPr marL="0" indent="0">
              <a:buNone/>
              <a:defRPr sz="1350"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CH" sz="1350" dirty="0"/>
              <a:t>Vorname Name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6CC97B3-B836-D6D6-7A42-566F071FE5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117240"/>
            <a:ext cx="5265301" cy="1231106"/>
          </a:xfrm>
        </p:spPr>
        <p:txBody>
          <a:bodyPr wrap="square" anchor="t">
            <a:no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de-CH" dirty="0"/>
              <a:t>Titel 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6EFFB021-AEC2-B428-A250-E8A8F84795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8076" y="2926800"/>
            <a:ext cx="5265300" cy="1510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CH" noProof="0" dirty="0"/>
              <a:t>Untertitel </a:t>
            </a:r>
            <a:br>
              <a:rPr lang="de-CH" noProof="0" dirty="0"/>
            </a:br>
            <a:r>
              <a:rPr lang="de-CH" noProof="0" dirty="0"/>
              <a:t>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6800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6800" y="1989138"/>
            <a:ext cx="11016850" cy="4175125"/>
          </a:xfrm>
        </p:spPr>
        <p:txBody>
          <a:bodyPr/>
          <a:lstStyle>
            <a:lvl1pPr>
              <a:defRPr/>
            </a:lvl1pPr>
            <a:lvl3pPr marL="536575" indent="-268288">
              <a:defRPr/>
            </a:lvl3pPr>
          </a:lstStyle>
          <a:p>
            <a:pPr lvl="0"/>
            <a:r>
              <a:rPr lang="de-DE" dirty="0"/>
              <a:t>Inhalt hinzufügen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89AB9197-1220-80BD-481F-90A973E1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8B04-1763-4966-AB85-214376E36F64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D173F40-185C-2ADF-A4DC-16363A32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0A1AFE9-5D1C-2846-D3BD-C3EFFEF9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B03B558-1909-9EAA-030E-9F4C655318C3}"/>
              </a:ext>
            </a:extLst>
          </p:cNvPr>
          <p:cNvSpPr/>
          <p:nvPr userDrawn="1"/>
        </p:nvSpPr>
        <p:spPr>
          <a:xfrm>
            <a:off x="0" y="846667"/>
            <a:ext cx="11430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6800" y="1067524"/>
            <a:ext cx="10587038" cy="921613"/>
          </a:xfrm>
        </p:spPr>
        <p:txBody>
          <a:bodyPr/>
          <a:lstStyle>
            <a:lvl1pPr>
              <a:defRPr sz="5850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C972A41D-DBE0-4AEB-A54C-9AF533191831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1814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6800" y="1170372"/>
            <a:ext cx="11012400" cy="492443"/>
          </a:xfrm>
        </p:spPr>
        <p:txBody>
          <a:bodyPr/>
          <a:lstStyle>
            <a:lvl1pPr>
              <a:defRPr b="0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6800" y="1989138"/>
            <a:ext cx="11016850" cy="4175125"/>
          </a:xfrm>
        </p:spPr>
        <p:txBody>
          <a:bodyPr/>
          <a:lstStyle>
            <a:lvl1pPr marL="270000" indent="-270000">
              <a:buFont typeface="+mj-lt"/>
              <a:buAutoNum type="arabicPeriod"/>
              <a:defRPr sz="2000"/>
            </a:lvl1pPr>
            <a:lvl2pPr marL="540000" indent="-270000">
              <a:buFont typeface="+mj-lt"/>
              <a:buAutoNum type="alphaLcPeriod"/>
              <a:defRPr sz="2000"/>
            </a:lvl2pPr>
            <a:lvl3pPr marL="810000" indent="-270000">
              <a:defRPr sz="2000"/>
            </a:lvl3pPr>
            <a:lvl4pPr marL="1080000" indent="-270000">
              <a:defRPr sz="2000"/>
            </a:lvl4pPr>
            <a:lvl5pPr marL="1350000" indent="-270000">
              <a:defRPr sz="2000"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BBA0-33B7-4DE1-9AE5-C6771873E435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9837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6800" y="1170372"/>
            <a:ext cx="110124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06800" y="1989137"/>
            <a:ext cx="5040000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385979" y="1989138"/>
            <a:ext cx="5037671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0094-4548-408C-83F8-F276A56381B5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30175" y="1170372"/>
            <a:ext cx="5393475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030175" y="1989138"/>
            <a:ext cx="5393475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C8795-E7F6-4BC5-92F6-2AF8B573EA4B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045B5233-76F3-BDA2-C5F4-340A566D321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2941" y="846001"/>
            <a:ext cx="53244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</a:t>
            </a:r>
            <a:br>
              <a:rPr lang="de-CH" dirty="0"/>
            </a:br>
            <a:r>
              <a:rPr lang="de-CH" dirty="0"/>
              <a:t>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 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399721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6800" y="1170372"/>
            <a:ext cx="504000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06800" y="1989138"/>
            <a:ext cx="5040000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C57D5-1E52-4D13-B75D-87DFF2FC55DB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BFED3010-9542-8FB4-6B6D-FE48529685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8226" y="846000"/>
            <a:ext cx="53244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Ersetzen Sie diesen Platzhalter durch ein Bild </a:t>
            </a:r>
            <a:br>
              <a:rPr lang="de-CH" dirty="0"/>
            </a:br>
            <a:r>
              <a:rPr lang="de-CH" dirty="0"/>
              <a:t>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</a:t>
            </a:r>
            <a:br>
              <a:rPr lang="de-CH" dirty="0"/>
            </a:br>
            <a:r>
              <a:rPr lang="de-CH" dirty="0"/>
              <a:t>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 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93266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4310E32-4DE7-4DE2-9FAB-EDA58F6B4D65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A158FDB-0E1B-74C0-3EFC-E1E947BFEE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846872"/>
            <a:ext cx="1142365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 dirty="0"/>
              <a:t> Ersetzen Sie diesen Platzhalter durch ein Bild (Grösse und Position beibehalten).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Eine Auswahl an FHNW-Bildern finden Sie im «Content </a:t>
            </a:r>
            <a:r>
              <a:rPr lang="de-CH" dirty="0" err="1"/>
              <a:t>Chooser</a:t>
            </a:r>
            <a:r>
              <a:rPr lang="de-CH" dirty="0"/>
              <a:t>» rechts in PowerPoint </a:t>
            </a:r>
            <a:br>
              <a:rPr lang="de-CH" dirty="0"/>
            </a:br>
            <a:r>
              <a:rPr lang="de-CH" dirty="0"/>
              <a:t>oder unter dem Menüpunkt «Einfügen &gt; Inhalte».</a:t>
            </a:r>
            <a:br>
              <a:rPr lang="de-CH" dirty="0"/>
            </a:br>
            <a:br>
              <a:rPr lang="de-CH" dirty="0"/>
            </a:br>
            <a:r>
              <a:rPr lang="de-CH" dirty="0"/>
              <a:t>Eigene Bilder können Sie durch einen Klick</a:t>
            </a:r>
            <a:br>
              <a:rPr lang="de-CH" dirty="0"/>
            </a:br>
            <a:r>
              <a:rPr lang="de-CH" dirty="0"/>
              <a:t>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45175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6800" y="1170372"/>
            <a:ext cx="11016850" cy="492443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AA3A3-55BB-4A02-BCD9-52E142C5B6FC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91246-48CA-4B08-8D76-596521D4A6CA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CA65A95-72B9-9C39-BC44-04A643558335}"/>
              </a:ext>
            </a:extLst>
          </p:cNvPr>
          <p:cNvSpPr/>
          <p:nvPr userDrawn="1"/>
        </p:nvSpPr>
        <p:spPr>
          <a:xfrm>
            <a:off x="0" y="6534000"/>
            <a:ext cx="11430000" cy="324000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08076" y="1170372"/>
            <a:ext cx="11015574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7988" y="1989137"/>
            <a:ext cx="11015662" cy="4175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Inhalt hinzufügen</a:t>
            </a:r>
          </a:p>
          <a:p>
            <a:pPr lvl="2"/>
            <a:r>
              <a:rPr lang="de-CH" noProof="0" dirty="0"/>
              <a:t>Ebene 2</a:t>
            </a:r>
          </a:p>
          <a:p>
            <a:pPr lvl="3"/>
            <a:r>
              <a:rPr lang="de-CH" noProof="0" dirty="0"/>
              <a:t>Ebene 3</a:t>
            </a:r>
          </a:p>
          <a:p>
            <a:pPr lvl="4"/>
            <a:r>
              <a:rPr lang="de-CH" noProof="0" dirty="0"/>
              <a:t>Ebene 4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>
                <a:solidFill>
                  <a:schemeClr val="tx1"/>
                </a:solidFill>
              </a:defRPr>
            </a:lvl1pPr>
          </a:lstStyle>
          <a:p>
            <a:fld id="{60EE5B3C-5D68-4D08-A92A-92363159C9B2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 b="1">
                <a:solidFill>
                  <a:schemeClr val="tx1"/>
                </a:solidFill>
              </a:defRPr>
            </a:lvl1pPr>
          </a:lstStyle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5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BBC21AA-03C3-7EDE-BB82-F15F9CEADEFF}"/>
              </a:ext>
            </a:extLst>
          </p:cNvPr>
          <p:cNvSpPr txBox="1"/>
          <p:nvPr userDrawn="1"/>
        </p:nvSpPr>
        <p:spPr>
          <a:xfrm>
            <a:off x="9767508" y="6618222"/>
            <a:ext cx="150642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de-DE"/>
            </a:defPPr>
            <a:lvl1pPr>
              <a:defRPr sz="950" b="1"/>
            </a:lvl1pPr>
          </a:lstStyle>
          <a:p>
            <a:pPr lvl="0" algn="r"/>
            <a:r>
              <a:rPr lang="de-CH" dirty="0"/>
              <a:t>www.fhnw.ch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A7E5D4E-A188-CD73-C96E-F2977DEC25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10457" y="212400"/>
            <a:ext cx="2727663" cy="42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7" r:id="rId3"/>
    <p:sldLayoutId id="2147483668" r:id="rId4"/>
    <p:sldLayoutId id="2147483661" r:id="rId5"/>
    <p:sldLayoutId id="2147483669" r:id="rId6"/>
    <p:sldLayoutId id="2147483670" r:id="rId7"/>
    <p:sldLayoutId id="2147483665" r:id="rId8"/>
    <p:sldLayoutId id="2147483663" r:id="rId9"/>
    <p:sldLayoutId id="2147483664" r:id="rId10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68288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269875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69875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A4A3A4"/>
          </p15:clr>
        </p15:guide>
        <p15:guide id="2" pos="7196" userDrawn="1">
          <p15:clr>
            <a:srgbClr val="A4A3A4"/>
          </p15:clr>
        </p15:guide>
        <p15:guide id="3" orient="horz" pos="3883" userDrawn="1">
          <p15:clr>
            <a:srgbClr val="A4A3A4"/>
          </p15:clr>
        </p15:guide>
        <p15:guide id="4" orient="horz" pos="12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3ADAF5-4807-68FF-4D40-65438BF6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34838-7A1D-452F-A1F5-02461E32176A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55E460-25C6-3A25-5B4F-AAC2A569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BDBB4E-FF89-DE17-7B80-A8E1AEC2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</a:t>
            </a:fld>
            <a:endParaRPr lang="de-CH" dirty="0"/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9F479FC9-F400-1623-CEA1-80EE8DDFDC1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23409" r="23409"/>
          <a:stretch/>
        </p:blipFill>
        <p:spPr>
          <a:prstGeom prst="rect">
            <a:avLst/>
          </a:prstGeom>
          <a:solidFill>
            <a:srgbClr val="5B9BD5">
              <a:lumMod val="40000"/>
              <a:lumOff val="60000"/>
            </a:srgbClr>
          </a:solidFill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070260B-CF47-66A4-FC11-39A8B8E6AC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CH" dirty="0"/>
              <a:t>Adrian Meier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C878F171-5CBB-F640-B0CE-CE00CC1579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Deep Learning Minichallenge</a:t>
            </a:r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B99FC38A-260C-7A9B-B4EB-E0CE480284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Deep Learning auf SVHN</a:t>
            </a:r>
          </a:p>
        </p:txBody>
      </p:sp>
    </p:spTree>
    <p:extLst>
      <p:ext uri="{BB962C8B-B14F-4D97-AF65-F5344CB8AC3E}">
        <p14:creationId xmlns:p14="http://schemas.microsoft.com/office/powerpoint/2010/main" val="246504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301FFD-0542-B6DE-2815-2259422C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CBAB51-05BC-A82E-6967-521234083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Street Views House Numbers</a:t>
            </a:r>
          </a:p>
          <a:p>
            <a:r>
              <a:rPr lang="de-CH" dirty="0"/>
              <a:t>Train: 73257 Bilder</a:t>
            </a:r>
          </a:p>
          <a:p>
            <a:r>
              <a:rPr lang="de-CH" dirty="0"/>
              <a:t>Test: 26032 Bilder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3CA4AC-89A9-BF0E-8DD0-79D4755B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2584-591D-4A28-A59B-3A4799C2AD59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FC0048-8167-9A51-5454-DF4C7680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764D8B-36D7-D781-6795-2FA0B225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2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9E22E35-F40D-676F-1CE1-FF27F6ED3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13" y="4725456"/>
            <a:ext cx="7572375" cy="166687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A639F07-E360-B9D2-F254-6FF6ADDD5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20" y="391581"/>
            <a:ext cx="56102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5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B997B7-5449-EF7B-94C6-EB9120B1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Baseline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3423EE-D982-277D-EFA4-81B90D5A3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2x </a:t>
            </a:r>
            <a:r>
              <a:rPr lang="de-CH" dirty="0" err="1"/>
              <a:t>Conv</a:t>
            </a:r>
            <a:r>
              <a:rPr lang="de-CH" dirty="0"/>
              <a:t> Layer</a:t>
            </a:r>
          </a:p>
          <a:p>
            <a:r>
              <a:rPr lang="de-CH" dirty="0"/>
              <a:t>1x FC</a:t>
            </a:r>
          </a:p>
          <a:p>
            <a:r>
              <a:rPr lang="de-CH" dirty="0"/>
              <a:t>3x3 Kernel</a:t>
            </a:r>
          </a:p>
          <a:p>
            <a:r>
              <a:rPr lang="de-CH" dirty="0" err="1"/>
              <a:t>MaxPool</a:t>
            </a:r>
            <a:r>
              <a:rPr lang="de-CH" dirty="0"/>
              <a:t> 2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/>
              <a:t>Learning Rate: 0.1</a:t>
            </a:r>
          </a:p>
          <a:p>
            <a:r>
              <a:rPr lang="de-CH" dirty="0"/>
              <a:t>Batch Size: 32</a:t>
            </a:r>
          </a:p>
          <a:p>
            <a:r>
              <a:rPr lang="de-CH" dirty="0" err="1"/>
              <a:t>Accuracy</a:t>
            </a:r>
            <a:r>
              <a:rPr lang="de-CH" dirty="0"/>
              <a:t> nach 30 Epochen: 0.8909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832EE6-B494-BC50-01AE-842D4B24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8B04-1763-4966-AB85-214376E36F64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036E54-B8E5-93D3-C2A3-DF472065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0E7218-EE1C-A24F-ECD8-F090B0F4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3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C11A7F8-609B-50D9-2D89-D72EC662D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330" y="410867"/>
            <a:ext cx="3314870" cy="575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98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22834-10E0-0FDD-F136-91F779F60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Experiment 1: LR und Early </a:t>
            </a:r>
            <a:r>
              <a:rPr lang="de-CH" dirty="0" err="1"/>
              <a:t>stopping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634A9B-2CE5-FB37-0A42-252362900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0E58C-94B2-BA87-6BE3-4706206C6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8B04-1763-4966-AB85-214376E36F64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E80FB5-CC2C-433B-4E1C-56DC9E542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6E9D13-A1CF-E8F3-1E63-66835D38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4</a:t>
            </a:fld>
            <a:endParaRPr lang="de-CH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CF1547A-6B19-556B-6B67-DF78CDCF7E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179212" y="1807129"/>
            <a:ext cx="5914963" cy="3429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53BD709-4862-ACBA-2054-F348A88CB5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/>
          <a:stretch>
            <a:fillRect/>
          </a:stretch>
        </p:blipFill>
        <p:spPr>
          <a:xfrm>
            <a:off x="6094175" y="1807129"/>
            <a:ext cx="591496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83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3A97E-8997-45F7-8264-2ACF60739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Experiment 2+3: Tiefere </a:t>
            </a:r>
            <a:r>
              <a:rPr lang="de-CH" dirty="0" err="1"/>
              <a:t>Conv</a:t>
            </a:r>
            <a:r>
              <a:rPr lang="de-CH" dirty="0"/>
              <a:t> und FC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F56146-5354-8323-604B-543D9EB70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Best </a:t>
            </a:r>
            <a:r>
              <a:rPr lang="de-CH" dirty="0" err="1"/>
              <a:t>Acc</a:t>
            </a:r>
            <a:r>
              <a:rPr lang="de-CH" dirty="0"/>
              <a:t> bei </a:t>
            </a:r>
            <a:r>
              <a:rPr lang="de-CH" dirty="0" err="1"/>
              <a:t>Conv</a:t>
            </a:r>
            <a:r>
              <a:rPr lang="de-CH" dirty="0"/>
              <a:t> 5</a:t>
            </a:r>
          </a:p>
          <a:p>
            <a:r>
              <a:rPr lang="de-CH" dirty="0"/>
              <a:t>Weniger Parameter bei </a:t>
            </a:r>
            <a:r>
              <a:rPr lang="de-CH" dirty="0" err="1"/>
              <a:t>Conv</a:t>
            </a:r>
            <a:r>
              <a:rPr lang="de-CH" dirty="0"/>
              <a:t> 3</a:t>
            </a:r>
          </a:p>
          <a:p>
            <a:endParaRPr lang="de-CH" dirty="0"/>
          </a:p>
          <a:p>
            <a:r>
              <a:rPr lang="de-CH" dirty="0"/>
              <a:t>3 FC Beste Performance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64D61F-B48C-D963-8204-BEA1BDDA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8B04-1763-4966-AB85-214376E36F64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6ED40B-D2FA-80E0-A10E-0EB5DC513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DA1923-7CC0-2551-5476-BFF5B81F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5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A2C84C0-BD87-169C-E7E7-C3E569D1D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96" y="1772816"/>
            <a:ext cx="5991225" cy="447675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E0CA6E6-EF66-8E2C-6295-ECB33BA2F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4" y="3547599"/>
            <a:ext cx="4840039" cy="288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65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C56E36-AE8F-B158-CCA0-609DCBB4E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Experiment 4: Filterkernels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2D794A-E275-A5FA-F729-BF25BB1EA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Je mehr desto besser</a:t>
            </a:r>
          </a:p>
          <a:p>
            <a:r>
              <a:rPr lang="de-CH" dirty="0"/>
              <a:t>Bildgrösse 32x32</a:t>
            </a:r>
          </a:p>
          <a:p>
            <a:r>
              <a:rPr lang="de-CH" dirty="0"/>
              <a:t>Bedenken bei 7x7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BD19DD-AB7E-2319-486B-4C5EB582D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8B04-1763-4966-AB85-214376E36F64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E44776-20F6-A7C5-071E-85A3FE4A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A1EDFB-7834-7F2A-E7BF-62E2D72D3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6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3D78EDB-C433-CAAC-5320-D1ABADA3C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485" y="1816272"/>
            <a:ext cx="7670718" cy="457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11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9B9ECE-62D7-3400-644C-09EA650B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Experiment 5: Dropout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D672F1-6A14-BBC2-1664-9FE88C9C3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8B04-1763-4966-AB85-214376E36F64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19CB1B-DAFE-68E4-29D5-D0809C2D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268802-44D1-8AEE-B2B2-9A0BC0AF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7</a:t>
            </a:fld>
            <a:endParaRPr lang="de-CH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0294B0E-B352-F51B-9F15-70A32DD93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29E185B-E0FB-12CE-BC79-E9D73A9D1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772816"/>
            <a:ext cx="8616280" cy="428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95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609D35-CE1F-979F-5726-13179097C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Experiment 7: Batch Norm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3E687B-7819-937F-571C-3D4811F13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8B04-1763-4966-AB85-214376E36F64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E2CF84-6526-6AFF-7DCD-7420053EB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992923-F950-CD68-C5B9-02DCD6F8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8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2BBC2C6-E79E-BECE-577F-74427C349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418" y="1844824"/>
            <a:ext cx="5963840" cy="355780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96656AD-348E-E03B-4AE8-8D03F4B3A9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5742" y="1844824"/>
            <a:ext cx="5963840" cy="355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799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31BAA-5A6E-D913-ECA7-1D90C09DD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Keine Optimierung in Experiment 6, 8, 9, 10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535270-D958-97E4-CC56-786239047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Data Augmentation</a:t>
            </a:r>
          </a:p>
          <a:p>
            <a:r>
              <a:rPr lang="de-CH" dirty="0"/>
              <a:t>Zufälliger </a:t>
            </a:r>
            <a:r>
              <a:rPr lang="de-CH" dirty="0" err="1"/>
              <a:t>Init</a:t>
            </a:r>
            <a:endParaRPr lang="de-CH" dirty="0"/>
          </a:p>
          <a:p>
            <a:r>
              <a:rPr lang="de-CH" dirty="0"/>
              <a:t>Adam Optimizer</a:t>
            </a:r>
          </a:p>
          <a:p>
            <a:r>
              <a:rPr lang="de-CH" dirty="0" err="1"/>
              <a:t>Focal</a:t>
            </a:r>
            <a:r>
              <a:rPr lang="de-CH" dirty="0"/>
              <a:t>-Loss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56A037-8352-FB3C-D893-EFDBB34DF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8B04-1763-4966-AB85-214376E36F64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D36195-24BD-8E5E-F487-42F958B8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3E6D98-0E8F-DEDF-9A20-AFEC711E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9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4D39E8B-6479-4082-B2A0-5E06CA9AD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768" y="1844824"/>
            <a:ext cx="7515225" cy="466725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9F296B9-4126-CE0B-AA72-FF67ABC42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768" y="1844824"/>
            <a:ext cx="7704856" cy="459642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447464D-A9ED-AB1C-CF69-1C8B7BEF9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768" y="1844825"/>
            <a:ext cx="7704856" cy="459642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9F43232-C5D5-FEFC-BBC2-052DABCBC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3632" y="1754011"/>
            <a:ext cx="9245213" cy="459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3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6E57BD-A92B-FA9B-AE3B-245F30863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Finales 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333B7A-5308-C153-497A-641AA9F4B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2698CB-F8C3-8BFE-8208-99050661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8B04-1763-4966-AB85-214376E36F64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CE8041-4215-1796-E73E-CD6621574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99364B-4DDD-6128-1076-B117951D1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10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A268C0-E3FF-CCCE-7576-4553283F2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566" y="1799604"/>
            <a:ext cx="5811434" cy="346688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F8C4C77-93E1-6BF0-FD6C-BC09863BFF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8234" y="1799604"/>
            <a:ext cx="5811434" cy="346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57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4B2844-BC9B-6FDA-1BC6-22C6BE719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976D3F-26B8-180E-196D-C4FC0CD68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F719D9-0DEC-958B-08AF-61267F662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8B04-1763-4966-AB85-214376E36F64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89652A-EC17-0DD0-9FFB-031702C3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9DAF2C-291E-EC4E-C275-DFE82E561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11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9A6ABB6-0770-463C-3849-1F1563BF2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2" y="310344"/>
            <a:ext cx="6098001" cy="623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284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A94482-FD43-14B0-5A45-8478FDA51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Unterschied mit mehr Parametern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214250-65B5-ABCE-4398-05B19F5BE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55C983-EAAD-D71B-891F-2709AAB77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8B04-1763-4966-AB85-214376E36F64}" type="datetime1">
              <a:rPr lang="de-DE" smtClean="0"/>
              <a:t>02.06.2026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563631-C285-112C-AE0A-76DC15A0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DEL MC Adrian Meier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B4D399-8B16-0D4E-3114-FB6EB1FDE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12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228ACB2-E03B-42D5-6961-21BDC79B6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830" y="1664022"/>
            <a:ext cx="5911178" cy="352995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88E127E-48AA-6080-452B-2C7ADCB24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8523" y="1662815"/>
            <a:ext cx="5911178" cy="35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567434"/>
      </p:ext>
    </p:extLst>
  </p:cSld>
  <p:clrMapOvr>
    <a:masterClrMapping/>
  </p:clrMapOvr>
</p:sld>
</file>

<file path=ppt/theme/theme1.xml><?xml version="1.0" encoding="utf-8"?>
<a:theme xmlns:a="http://schemas.openxmlformats.org/drawingml/2006/main" name="FHNW">
  <a:themeElements>
    <a:clrScheme name="Office-Stand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HT-16x9-DE.potx" id="{B8EEE57A-BE9B-464C-851D-1C163B16DBD5}" vid="{FA45AF6F-92E0-4B61-A2DA-90E595FE25A4}"/>
    </a:ext>
  </a:extLst>
</a:theme>
</file>

<file path=ppt/theme/theme2.xml><?xml version="1.0" encoding="utf-8"?>
<a:theme xmlns:a="http://schemas.openxmlformats.org/drawingml/2006/main" name="Office Theme">
  <a:themeElements>
    <a:clrScheme name="Fachhochschule Nordwestschweiz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achhochschule Nordwestschweiz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ED5A2B-AA98-4E20-9ECF-6054E5AD6D36}">
  <we:reference id="ea375709-5511-4a7d-9ad9-0150d03e7fbe" version="3.4.0.0" store="EXCatalog" storeType="EXCatalog"/>
  <we:alternateReferences>
    <we:reference id="WA104380602" version="3.4.0.0" store="de-CH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336E6A137EBA04CAA14C83E6B567E6E" ma:contentTypeVersion="4" ma:contentTypeDescription="Ein neues Dokument erstellen." ma:contentTypeScope="" ma:versionID="506964d69c7fa676f2673ca1c565f571">
  <xsd:schema xmlns:xsd="http://www.w3.org/2001/XMLSchema" xmlns:xs="http://www.w3.org/2001/XMLSchema" xmlns:p="http://schemas.microsoft.com/office/2006/metadata/properties" xmlns:ns2="5019f46e-7630-4c10-8bcc-ae747be1e2f1" targetNamespace="http://schemas.microsoft.com/office/2006/metadata/properties" ma:root="true" ma:fieldsID="6f33e12c5860b9710acc1ab8237e07cc" ns2:_="">
    <xsd:import namespace="5019f46e-7630-4c10-8bcc-ae747be1e2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19f46e-7630-4c10-8bcc-ae747be1e2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c9077d15-72ed-4fec-bcfe-3472729e9195"/>
    <ds:schemaRef ds:uri="http://schemas.microsoft.com/office/2006/documentManagement/types"/>
    <ds:schemaRef ds:uri="http://purl.org/dc/terms/"/>
    <ds:schemaRef ds:uri="http://schemas.microsoft.com/office/infopath/2007/PartnerControls"/>
    <ds:schemaRef ds:uri="bc24777f-78b6-4f3c-a73a-d5fa08e4d53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62ECAA3-4121-49B4-9C3B-24EA803EA0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19f46e-7630-4c10-8bcc-ae747be1e2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HSI-16x9-DE</Template>
  <TotalTime>0</TotalTime>
  <Words>358</Words>
  <Application>Microsoft Office PowerPoint</Application>
  <PresentationFormat>Breitbild</PresentationFormat>
  <Paragraphs>104</Paragraphs>
  <Slides>12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4" baseType="lpstr">
      <vt:lpstr>Arial</vt:lpstr>
      <vt:lpstr>FHNW</vt:lpstr>
      <vt:lpstr>Deep Learning Minichallenge</vt:lpstr>
      <vt:lpstr>Daten</vt:lpstr>
      <vt:lpstr>Baseline</vt:lpstr>
      <vt:lpstr>Experiment 1: LR und Early stopping</vt:lpstr>
      <vt:lpstr>Experiment 2+3: Tiefere Conv und FC</vt:lpstr>
      <vt:lpstr>Experiment 4: Filterkernels</vt:lpstr>
      <vt:lpstr>Experiment 5: Dropout</vt:lpstr>
      <vt:lpstr>Experiment 7: Batch Norm</vt:lpstr>
      <vt:lpstr>Keine Optimierung in Experiment 6, 8, 9, 10</vt:lpstr>
      <vt:lpstr>Finales Modell</vt:lpstr>
      <vt:lpstr>PowerPoint-Präsentation</vt:lpstr>
      <vt:lpstr>Unterschied mit mehr Parametern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Meier 2 (s)</dc:creator>
  <dc:description/>
  <cp:lastModifiedBy>Adrian Meier 2 (s)</cp:lastModifiedBy>
  <cp:revision>4</cp:revision>
  <dcterms:created xsi:type="dcterms:W3CDTF">2026-06-01T21:09:00Z</dcterms:created>
  <dcterms:modified xsi:type="dcterms:W3CDTF">2026-06-02T09:14:34Z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0x010100F336E6A137EBA04CAA14C83E6B567E6E</vt:lpwstr>
  </property>
  <property fmtid="{D5CDD505-2E9C-101B-9397-08002B2CF9AE}" pid="3" name="MediaServiceImageTags">
    <vt:lpwstr/>
  </property>
</Properties>
</file>